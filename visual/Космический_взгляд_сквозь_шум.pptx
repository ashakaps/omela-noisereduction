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FF9"/>
    <a:srgbClr val="042E2E"/>
    <a:srgbClr val="0D7A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8180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2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42E2E">
              <a:alpha val="85000"/>
            </a:srgbClr>
          </a:solidFill>
          <a:ln w="12700">
            <a:solidFill>
              <a:srgbClr val="042E2E">
                <a:alpha val="8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42E2E">
              <a:alpha val="48000"/>
            </a:srgbClr>
          </a:solidFill>
          <a:ln w="12700">
            <a:solidFill>
              <a:srgbClr val="042E2E">
                <a:alpha val="4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8912" y="4572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Космический взгляд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сквозь шум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38912" y="19202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50" i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Комплексная очистка и сглаживание временных рядов</a:t>
            </a:r>
            <a:endParaRPr lang="en-US" sz="15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50" i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мультиспектральных спутниковых данных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38912" y="2816352"/>
            <a:ext cx="3749040" cy="402336"/>
          </a:xfrm>
          <a:prstGeom prst="rect">
            <a:avLst/>
          </a:prstGeom>
          <a:solidFill>
            <a:srgbClr val="0A9090">
              <a:alpha val="82000"/>
            </a:srgbClr>
          </a:solidFill>
          <a:ln w="12700">
            <a:solidFill>
              <a:srgbClr val="9D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281635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Landsat-9  </a:t>
            </a:r>
            <a:r>
              <a:rPr lang="ru-RU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            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ru-RU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ERA5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8912" y="3317443"/>
            <a:ext cx="8229600" cy="0"/>
          </a:xfrm>
          <a:prstGeom prst="line">
            <a:avLst/>
          </a:prstGeom>
          <a:noFill/>
          <a:ln w="8890">
            <a:solidFill>
              <a:srgbClr val="9DD4D4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317444"/>
            <a:ext cx="8229600" cy="1686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Бабенко В.А. </a:t>
            </a:r>
            <a:endParaRPr lang="ru-RU" sz="1400" b="1" dirty="0">
              <a:solidFill>
                <a:srgbClr val="9DD4D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Капская А.М.</a:t>
            </a:r>
            <a:endParaRPr lang="ru-RU" sz="1400" b="1" dirty="0">
              <a:solidFill>
                <a:srgbClr val="9DD4D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Фонин</a:t>
            </a:r>
            <a:r>
              <a:rPr lang="en-US" sz="140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М.А.  </a:t>
            </a:r>
            <a:endParaRPr lang="ru-RU" sz="1400" b="1" dirty="0">
              <a:solidFill>
                <a:srgbClr val="9DD4D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ru-RU" sz="1200" b="1" dirty="0">
              <a:solidFill>
                <a:srgbClr val="9DD4D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</a:t>
            </a:r>
            <a:r>
              <a:rPr lang="ru-RU" sz="1200" dirty="0" err="1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ный</a:t>
            </a:r>
            <a:r>
              <a:rPr lang="en-US" sz="1200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</a:t>
            </a:r>
            <a:r>
              <a:rPr lang="ru-RU" sz="1200" dirty="0" err="1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оводитель</a:t>
            </a:r>
            <a:r>
              <a:rPr lang="en-US" sz="1200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Чернышенко В.С., к.ф.-м.н., доц.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Кафедра математики и анализа данных, Финансовый Университет при Правительстве РФ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16102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16102"/>
            <a:ext cx="9144000" cy="41148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920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r>
              <a:rPr lang="ru-RU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исследования. 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5546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 Университет при Правительстве РФ  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58200" y="485546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2608" y="914400"/>
            <a:ext cx="3244291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914400"/>
            <a:ext cx="64008" cy="786384"/>
          </a:xfrm>
          <a:prstGeom prst="rect">
            <a:avLst/>
          </a:prstGeom>
          <a:solidFill>
            <a:srgbClr val="C94040"/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987552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Пожарный мониторинг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1263701"/>
            <a:ext cx="324429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Облачные артефакты имитируют падение NDVI — ложные тревоги срабатывают до 40% случаев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" y="1837944"/>
            <a:ext cx="3244291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837944"/>
            <a:ext cx="64008" cy="786384"/>
          </a:xfrm>
          <a:prstGeom prst="rect">
            <a:avLst/>
          </a:prstGeom>
          <a:solidFill>
            <a:srgbClr val="D96820"/>
          </a:solidFill>
          <a:ln w="12700">
            <a:solidFill>
              <a:srgbClr val="D968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911096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урожайности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2203704"/>
            <a:ext cx="2779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Заниженный NDVI из-за аэрозолей даёт ошибку прогноза урожая на 15–25%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2761488"/>
            <a:ext cx="3244291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608" y="2761488"/>
            <a:ext cx="64008" cy="78638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34640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 засух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060954"/>
            <a:ext cx="2820010" cy="41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Нерегулярная съёмка (5–30 дней) создаёт пропуски именно в критические периоды стресса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2608" y="3685032"/>
            <a:ext cx="3244291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3685032"/>
            <a:ext cx="64008" cy="786384"/>
          </a:xfrm>
          <a:prstGeom prst="rect">
            <a:avLst/>
          </a:prstGeom>
          <a:solidFill>
            <a:srgbClr val="0D7A7A"/>
          </a:solidFill>
          <a:ln w="12700">
            <a:solidFill>
              <a:srgbClr val="0D7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717036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Фенологические карты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984498"/>
            <a:ext cx="2779776" cy="41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Снежный покров и зимние артефакты смещают дату начала вегетации на 2–4 недели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28923" y="1025728"/>
            <a:ext cx="5159045" cy="3641370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28923" y="914400"/>
            <a:ext cx="5159045" cy="270056"/>
          </a:xfrm>
          <a:prstGeom prst="rect">
            <a:avLst/>
          </a:prstGeom>
          <a:solidFill>
            <a:srgbClr val="C94040"/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28923" y="914400"/>
            <a:ext cx="5159045" cy="242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СЫРЫЕ ДАННЫЕ — ДО ОБРАБОТКИ</a:t>
            </a:r>
            <a:endParaRPr lang="en-US" sz="85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17772" y="1326337"/>
            <a:ext cx="4581345" cy="2204916"/>
          </a:xfrm>
          <a:prstGeom prst="rect">
            <a:avLst/>
          </a:prstGeom>
        </p:spPr>
      </p:pic>
      <p:sp>
        <p:nvSpPr>
          <p:cNvPr id="31" name="Google Shape;234;p23">
            <a:extLst>
              <a:ext uri="{FF2B5EF4-FFF2-40B4-BE49-F238E27FC236}">
                <a16:creationId xmlns:a16="http://schemas.microsoft.com/office/drawing/2014/main" id="{35A05357-3744-4FA8-831B-A74271F55BF2}"/>
              </a:ext>
            </a:extLst>
          </p:cNvPr>
          <p:cNvSpPr txBox="1"/>
          <p:nvPr/>
        </p:nvSpPr>
        <p:spPr>
          <a:xfrm>
            <a:off x="4132073" y="3643883"/>
            <a:ext cx="4501742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 err="1">
                <a:solidFill>
                  <a:srgbClr val="BDC3C7"/>
                </a:solidFill>
                <a:ea typeface="Open Sans"/>
                <a:cs typeface="Open Sans"/>
                <a:sym typeface="Open Sans"/>
              </a:rPr>
              <a:t>Серые</a:t>
            </a:r>
            <a:r>
              <a:rPr lang="en-US" sz="900" b="1" i="0" u="none" strike="noStrike" cap="none" dirty="0">
                <a:solidFill>
                  <a:srgbClr val="BDC3C7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900" b="1" i="0" u="none" strike="noStrike" cap="none" dirty="0" err="1">
                <a:solidFill>
                  <a:srgbClr val="BDC3C7"/>
                </a:solidFill>
                <a:ea typeface="Open Sans"/>
                <a:cs typeface="Open Sans"/>
                <a:sym typeface="Open Sans"/>
              </a:rPr>
              <a:t>точки</a:t>
            </a:r>
            <a:r>
              <a:rPr lang="ru-RU" sz="900" b="1" dirty="0">
                <a:solidFill>
                  <a:srgbClr val="BDC3C7"/>
                </a:solidFill>
                <a:ea typeface="Open Sans"/>
                <a:cs typeface="Open Sans"/>
                <a:sym typeface="Open Sans"/>
              </a:rPr>
              <a:t> -</a:t>
            </a:r>
            <a:r>
              <a:rPr lang="en-US" sz="900" b="0" i="0" u="none" strike="noStrike" cap="none" dirty="0">
                <a:solidFill>
                  <a:srgbClr val="1E293B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ru-RU" sz="900" b="0" i="0" u="none" strike="noStrike" cap="none" dirty="0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и</a:t>
            </a:r>
            <a:r>
              <a:rPr lang="en-US" sz="900" b="0" i="0" u="none" strike="noStrike" cap="none" dirty="0" err="1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сходные</a:t>
            </a:r>
            <a:r>
              <a:rPr lang="en-US" sz="900" b="0" i="0" u="none" strike="noStrike" cap="none" dirty="0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900" b="0" i="0" u="none" strike="noStrike" cap="none" dirty="0" err="1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зашумленные</a:t>
            </a:r>
            <a:r>
              <a:rPr lang="en-US" sz="900" b="0" i="0" u="none" strike="noStrike" cap="none" dirty="0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900" b="0" i="0" u="none" strike="noStrike" cap="none" dirty="0" err="1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данные</a:t>
            </a:r>
            <a:r>
              <a:rPr lang="en-US" sz="900" b="0" i="0" u="none" strike="noStrike" cap="none" dirty="0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 Landsat</a:t>
            </a:r>
            <a:endParaRPr sz="900" dirty="0">
              <a:solidFill>
                <a:srgbClr val="042E2E"/>
              </a:solidFill>
            </a:endParaRPr>
          </a:p>
        </p:txBody>
      </p:sp>
      <p:sp>
        <p:nvSpPr>
          <p:cNvPr id="32" name="Google Shape;235;p23">
            <a:extLst>
              <a:ext uri="{FF2B5EF4-FFF2-40B4-BE49-F238E27FC236}">
                <a16:creationId xmlns:a16="http://schemas.microsoft.com/office/drawing/2014/main" id="{E3810AA5-4B45-444E-99E5-1AA62397FF60}"/>
              </a:ext>
            </a:extLst>
          </p:cNvPr>
          <p:cNvSpPr txBox="1"/>
          <p:nvPr/>
        </p:nvSpPr>
        <p:spPr>
          <a:xfrm>
            <a:off x="4132073" y="3847315"/>
            <a:ext cx="4501742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 err="1">
                <a:solidFill>
                  <a:srgbClr val="3498DB"/>
                </a:solidFill>
                <a:ea typeface="Open Sans"/>
                <a:cs typeface="Open Sans"/>
                <a:sym typeface="Open Sans"/>
              </a:rPr>
              <a:t>Голубая</a:t>
            </a:r>
            <a:r>
              <a:rPr lang="en-US" sz="900" b="1" i="0" u="none" strike="noStrike" cap="none" dirty="0">
                <a:solidFill>
                  <a:srgbClr val="3498DB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900" b="1" i="0" u="none" strike="noStrike" cap="none" dirty="0" err="1">
                <a:solidFill>
                  <a:srgbClr val="3498DB"/>
                </a:solidFill>
                <a:ea typeface="Open Sans"/>
                <a:cs typeface="Open Sans"/>
                <a:sym typeface="Open Sans"/>
              </a:rPr>
              <a:t>область</a:t>
            </a:r>
            <a:r>
              <a:rPr lang="ru-RU" sz="900" b="1" dirty="0">
                <a:solidFill>
                  <a:srgbClr val="3498DB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ru-RU" sz="900" b="1" dirty="0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- </a:t>
            </a:r>
            <a:r>
              <a:rPr lang="en-US" sz="900" b="0" i="0" u="none" strike="noStrike" cap="none" dirty="0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ML-</a:t>
            </a:r>
            <a:r>
              <a:rPr lang="en-US" sz="900" b="0" i="0" u="none" strike="noStrike" cap="none" dirty="0" err="1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коридор</a:t>
            </a:r>
            <a:r>
              <a:rPr lang="en-US" sz="900" b="0" i="0" u="none" strike="noStrike" cap="none" dirty="0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900" b="0" i="0" u="none" strike="noStrike" cap="none" dirty="0" err="1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нормы</a:t>
            </a:r>
            <a:r>
              <a:rPr lang="en-US" sz="900" b="0" i="0" u="none" strike="noStrike" cap="none" dirty="0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900" b="0" i="0" u="none" strike="noStrike" cap="none" dirty="0" err="1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от</a:t>
            </a:r>
            <a:r>
              <a:rPr lang="en-US" sz="900" b="0" i="0" u="none" strike="noStrike" cap="none" dirty="0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 Prophet</a:t>
            </a:r>
            <a:endParaRPr sz="900" dirty="0">
              <a:solidFill>
                <a:srgbClr val="042E2E"/>
              </a:solidFill>
            </a:endParaRPr>
          </a:p>
        </p:txBody>
      </p:sp>
      <p:sp>
        <p:nvSpPr>
          <p:cNvPr id="33" name="Google Shape;236;p23">
            <a:extLst>
              <a:ext uri="{FF2B5EF4-FFF2-40B4-BE49-F238E27FC236}">
                <a16:creationId xmlns:a16="http://schemas.microsoft.com/office/drawing/2014/main" id="{1CF7C9CE-F718-4D19-8C0B-CD35D46A9F03}"/>
              </a:ext>
            </a:extLst>
          </p:cNvPr>
          <p:cNvSpPr txBox="1"/>
          <p:nvPr/>
        </p:nvSpPr>
        <p:spPr>
          <a:xfrm>
            <a:off x="4132073" y="4099312"/>
            <a:ext cx="3065008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 err="1">
                <a:solidFill>
                  <a:srgbClr val="27AE60"/>
                </a:solidFill>
                <a:ea typeface="Open Sans"/>
                <a:cs typeface="Open Sans"/>
                <a:sym typeface="Open Sans"/>
              </a:rPr>
              <a:t>Зеленые</a:t>
            </a:r>
            <a:r>
              <a:rPr lang="en-US" sz="900" b="1" i="0" u="none" strike="noStrike" cap="none" dirty="0">
                <a:solidFill>
                  <a:srgbClr val="27AE60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900" b="1" i="0" u="none" strike="noStrike" cap="none" dirty="0" err="1">
                <a:solidFill>
                  <a:srgbClr val="27AE60"/>
                </a:solidFill>
                <a:ea typeface="Open Sans"/>
                <a:cs typeface="Open Sans"/>
                <a:sym typeface="Open Sans"/>
              </a:rPr>
              <a:t>точки</a:t>
            </a:r>
            <a:r>
              <a:rPr lang="ru-RU" sz="900" b="1" dirty="0">
                <a:solidFill>
                  <a:srgbClr val="27AE60"/>
                </a:solidFill>
                <a:ea typeface="Open Sans"/>
                <a:cs typeface="Open Sans"/>
                <a:sym typeface="Open Sans"/>
              </a:rPr>
              <a:t> -</a:t>
            </a:r>
            <a:r>
              <a:rPr lang="en-US" sz="900" b="0" i="0" u="none" strike="noStrike" cap="none" dirty="0">
                <a:solidFill>
                  <a:srgbClr val="1E293B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ru-RU" sz="900" dirty="0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о</a:t>
            </a:r>
            <a:r>
              <a:rPr lang="en-US" sz="900" b="0" i="0" u="none" strike="noStrike" cap="none" dirty="0" err="1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чищенные</a:t>
            </a:r>
            <a:r>
              <a:rPr lang="en-US" sz="900" b="0" i="0" u="none" strike="noStrike" cap="none" dirty="0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 "</a:t>
            </a:r>
            <a:r>
              <a:rPr lang="en-US" sz="900" b="0" i="0" u="none" strike="noStrike" cap="none" dirty="0" err="1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валидные</a:t>
            </a:r>
            <a:r>
              <a:rPr lang="en-US" sz="900" b="0" i="0" u="none" strike="noStrike" cap="none" dirty="0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" </a:t>
            </a:r>
            <a:r>
              <a:rPr lang="en-US" sz="900" b="0" i="0" u="none" strike="noStrike" cap="none" dirty="0" err="1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данные</a:t>
            </a:r>
            <a:endParaRPr sz="900" dirty="0">
              <a:solidFill>
                <a:srgbClr val="042E2E"/>
              </a:solidFill>
            </a:endParaRPr>
          </a:p>
        </p:txBody>
      </p:sp>
      <p:sp>
        <p:nvSpPr>
          <p:cNvPr id="34" name="Google Shape;237;p23">
            <a:extLst>
              <a:ext uri="{FF2B5EF4-FFF2-40B4-BE49-F238E27FC236}">
                <a16:creationId xmlns:a16="http://schemas.microsoft.com/office/drawing/2014/main" id="{74DA5BD7-2295-48C7-B45C-5A0BE34382D7}"/>
              </a:ext>
            </a:extLst>
          </p:cNvPr>
          <p:cNvSpPr txBox="1"/>
          <p:nvPr/>
        </p:nvSpPr>
        <p:spPr>
          <a:xfrm>
            <a:off x="4132073" y="4366717"/>
            <a:ext cx="2777133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 err="1">
                <a:solidFill>
                  <a:srgbClr val="E74C3C"/>
                </a:solidFill>
                <a:ea typeface="Open Sans"/>
                <a:cs typeface="Open Sans"/>
                <a:sym typeface="Open Sans"/>
              </a:rPr>
              <a:t>Красная</a:t>
            </a:r>
            <a:r>
              <a:rPr lang="en-US" sz="900" b="1" i="0" u="none" strike="noStrike" cap="none" dirty="0">
                <a:solidFill>
                  <a:srgbClr val="E74C3C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900" b="1" i="0" u="none" strike="noStrike" cap="none" dirty="0" err="1">
                <a:solidFill>
                  <a:srgbClr val="E74C3C"/>
                </a:solidFill>
                <a:ea typeface="Open Sans"/>
                <a:cs typeface="Open Sans"/>
                <a:sym typeface="Open Sans"/>
              </a:rPr>
              <a:t>линия</a:t>
            </a:r>
            <a:r>
              <a:rPr lang="ru-RU" sz="900" b="1" dirty="0">
                <a:solidFill>
                  <a:srgbClr val="E74C3C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ru-RU" sz="900" b="1" dirty="0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-</a:t>
            </a:r>
            <a:r>
              <a:rPr lang="en-US" sz="900" b="0" i="0" u="none" strike="noStrike" cap="none" dirty="0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ru-RU" sz="900" dirty="0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и</a:t>
            </a:r>
            <a:r>
              <a:rPr lang="en-US" sz="900" b="0" i="0" u="none" strike="noStrike" cap="none" dirty="0" err="1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тоговая</a:t>
            </a:r>
            <a:r>
              <a:rPr lang="en-US" sz="900" b="0" i="0" u="none" strike="noStrike" cap="none" dirty="0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900" b="0" i="0" u="none" strike="noStrike" cap="none" dirty="0" err="1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модель</a:t>
            </a:r>
            <a:r>
              <a:rPr lang="en-US" sz="900" b="0" i="0" u="none" strike="noStrike" cap="none" dirty="0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900" b="0" i="0" u="none" strike="noStrike" cap="none" dirty="0" err="1">
                <a:solidFill>
                  <a:srgbClr val="042E2E"/>
                </a:solidFill>
                <a:ea typeface="Open Sans"/>
                <a:cs typeface="Open Sans"/>
                <a:sym typeface="Open Sans"/>
              </a:rPr>
              <a:t>сезонности</a:t>
            </a:r>
            <a:endParaRPr sz="900" dirty="0">
              <a:solidFill>
                <a:srgbClr val="042E2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0372"/>
            <a:ext cx="9144000" cy="41148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</a:t>
            </a: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разработали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5546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 Университет при Правительстве РФ  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58200" y="485546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2608" y="914400"/>
            <a:ext cx="5029200" cy="676656"/>
          </a:xfrm>
          <a:prstGeom prst="rect">
            <a:avLst/>
          </a:prstGeom>
          <a:solidFill>
            <a:srgbClr val="065555"/>
          </a:solidFill>
          <a:ln w="12700">
            <a:solidFill>
              <a:srgbClr val="0655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914400"/>
            <a:ext cx="822960" cy="676656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914400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7008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ВХОДНЫЕ ДАННЫЕ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7008" y="130759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Landsat-9 + ERA5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07208" y="1591056"/>
            <a:ext cx="0" cy="91440"/>
          </a:xfrm>
          <a:prstGeom prst="line">
            <a:avLst/>
          </a:prstGeom>
          <a:noFill/>
          <a:ln w="25400">
            <a:solidFill>
              <a:srgbClr val="9D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" y="1682496"/>
            <a:ext cx="5029200" cy="676656"/>
          </a:xfrm>
          <a:prstGeom prst="rect">
            <a:avLst/>
          </a:prstGeom>
          <a:solidFill>
            <a:srgbClr val="0D7A7A"/>
          </a:solidFill>
          <a:ln w="12700">
            <a:solidFill>
              <a:srgbClr val="0D7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1682496"/>
            <a:ext cx="822960" cy="676656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1682496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07008" y="17739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ЗИМНЯЯ КОРРЕКЦИЯ + PROPHET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07008" y="207568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0.16 · статистический коридор ±k·σ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07208" y="2359152"/>
            <a:ext cx="0" cy="91440"/>
          </a:xfrm>
          <a:prstGeom prst="line">
            <a:avLst/>
          </a:prstGeom>
          <a:noFill/>
          <a:ln w="25400">
            <a:solidFill>
              <a:srgbClr val="9D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" y="2450592"/>
            <a:ext cx="5029200" cy="676656"/>
          </a:xfrm>
          <a:prstGeom prst="rect">
            <a:avLst/>
          </a:prstGeom>
          <a:solidFill>
            <a:srgbClr val="0D7A7A"/>
          </a:solidFill>
          <a:ln w="12700">
            <a:solidFill>
              <a:srgbClr val="0D7A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" y="2450592"/>
            <a:ext cx="822960" cy="676656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450592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07008" y="2542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АНОМАЛИЙ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07008" y="284378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points · local dropdowns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07208" y="3127248"/>
            <a:ext cx="0" cy="91440"/>
          </a:xfrm>
          <a:prstGeom prst="line">
            <a:avLst/>
          </a:prstGeom>
          <a:noFill/>
          <a:ln w="25400">
            <a:solidFill>
              <a:srgbClr val="9DD4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" y="3218688"/>
            <a:ext cx="5029200" cy="676656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" y="3218688"/>
            <a:ext cx="822960" cy="676656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3218688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07008" y="33101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ENVELOPE + PCHIP + SG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07008" y="361188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верхняя огибающая · интерполяция · сглаживание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07208" y="3895344"/>
            <a:ext cx="0" cy="91440"/>
          </a:xfrm>
          <a:prstGeom prst="line">
            <a:avLst/>
          </a:prstGeom>
          <a:noFill/>
          <a:ln w="25400">
            <a:solidFill>
              <a:srgbClr val="9DD4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" y="3986784"/>
            <a:ext cx="5029200" cy="67665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608" y="3986784"/>
            <a:ext cx="822960" cy="676656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3986784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07008" y="40782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ЧИСТЫЙ ВРЕМЕННОЙ РЯД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07008" y="437997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к мониторингу пожаров, засух, урожайности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77840" y="914400"/>
            <a:ext cx="3291840" cy="786384"/>
          </a:xfrm>
          <a:prstGeom prst="rect">
            <a:avLst/>
          </a:prstGeom>
          <a:solidFill>
            <a:srgbClr val="F0FAFA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577840" y="914400"/>
            <a:ext cx="54864" cy="786384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432" y="9875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автоматизация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742432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ручных порогов — параметры подбираются под </a:t>
            </a:r>
            <a:r>
              <a:rPr lang="en-US" sz="1000" dirty="0" err="1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каждую</a:t>
            </a:r>
            <a:r>
              <a:rPr lang="en-US" sz="100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территорию</a:t>
            </a:r>
            <a:r>
              <a:rPr lang="ru-RU" sz="100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 помощи алгоритмов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77840" y="1837944"/>
            <a:ext cx="3291840" cy="786384"/>
          </a:xfrm>
          <a:prstGeom prst="rect">
            <a:avLst/>
          </a:prstGeom>
          <a:solidFill>
            <a:srgbClr val="F0FAFA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577840" y="1837944"/>
            <a:ext cx="54864" cy="786384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42432" y="19110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Воспроизводимость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742432" y="22037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Python-код, все </a:t>
            </a:r>
            <a:r>
              <a:rPr lang="en-US" sz="1000" dirty="0" err="1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</a:t>
            </a:r>
            <a:r>
              <a:rPr lang="en-US" sz="100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логируются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77840" y="2761488"/>
            <a:ext cx="3291840" cy="786384"/>
          </a:xfrm>
          <a:prstGeom prst="rect">
            <a:avLst/>
          </a:prstGeom>
          <a:solidFill>
            <a:srgbClr val="F0FAFA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577840" y="2761488"/>
            <a:ext cx="54864" cy="786384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42432" y="28346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Масштабируемость</a:t>
            </a:r>
            <a:endParaRPr lang="en-US" sz="1150" dirty="0">
              <a:solidFill>
                <a:srgbClr val="0D7A7A"/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5742432" y="31272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ru-RU" sz="100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Автоматизированный конвейер очистки </a:t>
            </a:r>
            <a:r>
              <a:rPr lang="en-US" sz="100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</a:t>
            </a:r>
            <a:r>
              <a:rPr lang="ru-RU" sz="100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высокой скоростью обработки (до 2 минут)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77840" y="3685032"/>
            <a:ext cx="3291840" cy="786384"/>
          </a:xfrm>
          <a:prstGeom prst="rect">
            <a:avLst/>
          </a:prstGeom>
          <a:solidFill>
            <a:srgbClr val="F0FAFA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577840" y="3685032"/>
            <a:ext cx="54864" cy="786384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42432" y="37581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Универсальность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742432" y="40507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регион мира, любой тип растительности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0372"/>
            <a:ext cx="9144000" cy="41148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r>
              <a:rPr lang="ru-RU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5546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 Университет при Правительстве РФ 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58200" y="485546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2608" y="914400"/>
            <a:ext cx="1591056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" y="1005840"/>
            <a:ext cx="1591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810 000 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" y="153619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00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 в </a:t>
            </a:r>
            <a:r>
              <a:rPr lang="ru-RU" sz="1000" b="1" dirty="0" err="1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датасете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181051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2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Россия, разные биомы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75104" y="914400"/>
            <a:ext cx="1591056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75104" y="1005840"/>
            <a:ext cx="1591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~30k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048256" y="153619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снимков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29968" y="181051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2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Landsat-9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0" y="914400"/>
            <a:ext cx="1591056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0" y="1005840"/>
            <a:ext cx="1591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ru-RU" sz="2800" b="1" dirty="0">
                <a:solidFill>
                  <a:srgbClr val="0A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730752" y="153619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 данных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12464" y="181051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2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2019-01-01 — 2025-03-01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40096" y="914400"/>
            <a:ext cx="1591056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40096" y="1005840"/>
            <a:ext cx="1591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n-US" sz="2800" b="1" dirty="0" err="1">
                <a:solidFill>
                  <a:srgbClr val="0A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</a:t>
            </a:r>
            <a:r>
              <a:rPr lang="ru-RU" sz="2800" b="1" dirty="0">
                <a:solidFill>
                  <a:srgbClr val="0A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ей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13248" y="153619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сетки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94960" y="181051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2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PCHIP-интерполяции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022592" y="914400"/>
            <a:ext cx="1591056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22592" y="1005840"/>
            <a:ext cx="1591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2800" b="1" dirty="0">
                <a:solidFill>
                  <a:srgbClr val="0A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095744" y="153619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ERA5-признаков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77456" y="181051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850" i="1" dirty="0">
                <a:solidFill>
                  <a:srgbClr val="62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включая</a:t>
            </a:r>
            <a:r>
              <a:rPr lang="en-US" sz="850" i="1" dirty="0">
                <a:solidFill>
                  <a:srgbClr val="62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осадки, </a:t>
            </a:r>
            <a:r>
              <a:rPr lang="en-US" sz="850" i="1" dirty="0" err="1">
                <a:solidFill>
                  <a:srgbClr val="62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влажность</a:t>
            </a:r>
            <a:r>
              <a:rPr lang="ru-RU" sz="850" i="1" dirty="0">
                <a:solidFill>
                  <a:srgbClr val="62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так далее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726387" y="2286000"/>
            <a:ext cx="5632704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726387" y="2286000"/>
            <a:ext cx="5632704" cy="274320"/>
          </a:xfrm>
          <a:prstGeom prst="rect">
            <a:avLst/>
          </a:prstGeom>
          <a:solidFill>
            <a:srgbClr val="065555"/>
          </a:solidFill>
          <a:ln w="12700">
            <a:solidFill>
              <a:srgbClr val="0655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2286000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сглаженные ряды NDVI — все 15 территорий, границы вегетационного сезона</a:t>
            </a:r>
            <a:endParaRPr lang="en-US" sz="850" dirty="0"/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id="{9B02B838-6D86-4787-BD7F-081D7B8C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7639" y="2657564"/>
            <a:ext cx="5210199" cy="203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0372"/>
            <a:ext cx="9144000" cy="41148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0"/>
            <a:ext cx="85990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втоматическая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фильтрация аномалий — как это работает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5546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 Университет при Правительстве РФ  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58200" y="485546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2607" y="914400"/>
            <a:ext cx="2955341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914400"/>
            <a:ext cx="640080" cy="786384"/>
          </a:xfrm>
          <a:prstGeom prst="rect">
            <a:avLst/>
          </a:prstGeom>
          <a:solidFill>
            <a:srgbClr val="0D7A7A"/>
          </a:solidFill>
          <a:ln w="12700">
            <a:solidFill>
              <a:srgbClr val="0D7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914400"/>
            <a:ext cx="640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24128" y="996696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Зимний baseline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1298448"/>
            <a:ext cx="21726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зимой фиксируется на 0.16 — исключает снежные артефакты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" y="1837944"/>
            <a:ext cx="2955341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" y="1837944"/>
            <a:ext cx="640080" cy="786384"/>
          </a:xfrm>
          <a:prstGeom prst="rect">
            <a:avLst/>
          </a:prstGeom>
          <a:solidFill>
            <a:srgbClr val="0D7A7A"/>
          </a:solidFill>
          <a:ln w="12700">
            <a:solidFill>
              <a:srgbClr val="0D7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1837944"/>
            <a:ext cx="640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4128" y="1920240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Prophet-коридор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2221992"/>
            <a:ext cx="21726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на годовой сезонности, динамические границы ±k·σ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2608" y="2761488"/>
            <a:ext cx="2955341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2761488"/>
            <a:ext cx="640080" cy="786384"/>
          </a:xfrm>
          <a:prstGeom prst="rect">
            <a:avLst/>
          </a:prstGeom>
          <a:solidFill>
            <a:srgbClr val="0D7A7A"/>
          </a:solidFill>
          <a:ln w="12700">
            <a:solidFill>
              <a:srgbClr val="0D7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761488"/>
            <a:ext cx="640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24128" y="2814523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points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3070555"/>
            <a:ext cx="2018995" cy="404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Точки, дублирующие соседние — удаляются как информационно избыточные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2608" y="3685032"/>
            <a:ext cx="2955341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3685032"/>
            <a:ext cx="640080" cy="786384"/>
          </a:xfrm>
          <a:prstGeom prst="rect">
            <a:avLst/>
          </a:prstGeom>
          <a:solidFill>
            <a:srgbClr val="0D7A7A"/>
          </a:solidFill>
          <a:ln w="12700">
            <a:solidFill>
              <a:srgbClr val="0D7A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685032"/>
            <a:ext cx="640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24128" y="3708806"/>
            <a:ext cx="3364992" cy="287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dropdowns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" y="3995928"/>
            <a:ext cx="20994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Одиночные резкие провалы — убираются как артефакты облачности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99477" y="914400"/>
            <a:ext cx="5388491" cy="3538728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99477" y="914400"/>
            <a:ext cx="5388491" cy="274320"/>
          </a:xfrm>
          <a:prstGeom prst="rect">
            <a:avLst/>
          </a:prstGeom>
          <a:solidFill>
            <a:srgbClr val="065555"/>
          </a:solidFill>
          <a:ln w="12700">
            <a:solidFill>
              <a:srgbClr val="0655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9477" y="914400"/>
            <a:ext cx="53884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ЦВЕТ — ОТДЕЛЬНАЯ СТАДИЯ ФИЛЬТРАЦИИ</a:t>
            </a:r>
            <a:endParaRPr lang="en-US" sz="85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22336" y="1335024"/>
            <a:ext cx="5342771" cy="252374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4081457" y="4074566"/>
            <a:ext cx="4224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2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307: сырой NDVI · удалённые выбросы (×) · очищенные точки (•) · финальная кривая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0372"/>
            <a:ext cx="9144000" cy="41148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глаживание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Upper Envelope · PCHIP · </a:t>
            </a:r>
            <a:r>
              <a:rPr lang="ru-RU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Савицкий-Голей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5546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 Университет при Правительстве РФ  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58200" y="485546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0467" y="827532"/>
            <a:ext cx="4491533" cy="2479304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" y="740664"/>
            <a:ext cx="4491533" cy="274320"/>
          </a:xfrm>
          <a:prstGeom prst="rect">
            <a:avLst/>
          </a:prstGeom>
          <a:solidFill>
            <a:srgbClr val="C94040"/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790956"/>
            <a:ext cx="4279392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ДО: сырые и очищенные точки</a:t>
            </a:r>
            <a:endParaRPr lang="en-US" sz="8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2587" y="1051560"/>
            <a:ext cx="4387291" cy="221875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0" y="859536"/>
            <a:ext cx="4491533" cy="1676644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740664"/>
            <a:ext cx="4491532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01261" y="724205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ПОСЛЕ: финальная </a:t>
            </a:r>
            <a:r>
              <a:rPr lang="en-US" sz="8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гладкая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кривая</a:t>
            </a:r>
            <a:r>
              <a:rPr lang="ru-RU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каждой из территорий</a:t>
            </a:r>
            <a:endParaRPr lang="en-US" sz="8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70094" y="1069848"/>
            <a:ext cx="3862426" cy="143377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92608" y="3434852"/>
            <a:ext cx="2731008" cy="1338316"/>
          </a:xfrm>
          <a:prstGeom prst="rect">
            <a:avLst/>
          </a:prstGeom>
          <a:solidFill>
            <a:srgbClr val="F0FAFA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92608" y="3434852"/>
            <a:ext cx="2731008" cy="274320"/>
          </a:xfrm>
          <a:prstGeom prst="rect">
            <a:avLst/>
          </a:prstGeom>
          <a:solidFill>
            <a:srgbClr val="065555"/>
          </a:solidFill>
          <a:ln w="12700">
            <a:solidFill>
              <a:srgbClr val="06555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65760" y="3434852"/>
            <a:ext cx="2584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— Upper Envelope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84048" y="3764036"/>
            <a:ext cx="2548128" cy="93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Итеративно тянет кривую к верхним значениям — убирает атмосферные занижения, сохраняет пики биомассы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115056" y="3434852"/>
            <a:ext cx="2731008" cy="1338316"/>
          </a:xfrm>
          <a:prstGeom prst="rect">
            <a:avLst/>
          </a:prstGeom>
          <a:solidFill>
            <a:srgbClr val="F0FAFA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115056" y="3434852"/>
            <a:ext cx="2731008" cy="274320"/>
          </a:xfrm>
          <a:prstGeom prst="rect">
            <a:avLst/>
          </a:prstGeom>
          <a:solidFill>
            <a:srgbClr val="065555"/>
          </a:solidFill>
          <a:ln w="12700">
            <a:solidFill>
              <a:srgbClr val="06555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188208" y="3434852"/>
            <a:ext cx="2584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— PCHIP (шаг 5 дней)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206496" y="3764036"/>
            <a:ext cx="2548128" cy="93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Монотонная эрмитова интерполяция — заполняет пропуски без ложных осцилляций и искажений формы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937504" y="3434852"/>
            <a:ext cx="2731008" cy="1338316"/>
          </a:xfrm>
          <a:prstGeom prst="rect">
            <a:avLst/>
          </a:prstGeom>
          <a:solidFill>
            <a:srgbClr val="F0FAFA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937504" y="3434852"/>
            <a:ext cx="2731008" cy="274320"/>
          </a:xfrm>
          <a:prstGeom prst="rect">
            <a:avLst/>
          </a:prstGeom>
          <a:solidFill>
            <a:srgbClr val="065555"/>
          </a:solidFill>
          <a:ln w="12700">
            <a:solidFill>
              <a:srgbClr val="06555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010656" y="3434852"/>
            <a:ext cx="2584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— </a:t>
            </a:r>
            <a:r>
              <a:rPr lang="ru-RU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Савицкого-</a:t>
            </a:r>
            <a:r>
              <a:rPr lang="ru-RU" sz="9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Голея</a:t>
            </a:r>
            <a:r>
              <a:rPr lang="ru-RU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(w=7)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028944" y="3764036"/>
            <a:ext cx="2548128" cy="93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Финальное сглаживание по МНК — убирает высокочастотный шум без сдвига фенологических пиков</a:t>
            </a:r>
            <a:endParaRPr lang="en-US" sz="1000" dirty="0"/>
          </a:p>
        </p:txBody>
      </p:sp>
      <p:pic>
        <p:nvPicPr>
          <p:cNvPr id="28" name="Google Shape;185;p20" descr="image.png">
            <a:extLst>
              <a:ext uri="{FF2B5EF4-FFF2-40B4-BE49-F238E27FC236}">
                <a16:creationId xmlns:a16="http://schemas.microsoft.com/office/drawing/2014/main" id="{6667B35A-91AC-45E2-95FF-6330A4CE418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30007" y="2641215"/>
            <a:ext cx="3713340" cy="65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0372"/>
            <a:ext cx="9144000" cy="41148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4826" y="0"/>
            <a:ext cx="893917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Физическая </a:t>
            </a: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шума — ERA5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5546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 Университет при Правительстве РФ  ·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58200" y="485546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2608" y="914400"/>
            <a:ext cx="4187952" cy="1115568"/>
          </a:xfrm>
          <a:prstGeom prst="rect">
            <a:avLst/>
          </a:prstGeom>
          <a:solidFill>
            <a:srgbClr val="F0FAFA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914400"/>
            <a:ext cx="64008" cy="1115568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05840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шум NDVI?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316736"/>
            <a:ext cx="3913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= NDVI_raw − NDVI_smooth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измеряем отклонение реального сигнала от очищенного — это и есть физический шум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" y="2176272"/>
            <a:ext cx="4187952" cy="1115568"/>
          </a:xfrm>
          <a:prstGeom prst="rect">
            <a:avLst/>
          </a:prstGeom>
          <a:solidFill>
            <a:srgbClr val="F0FAFA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" y="2176272"/>
            <a:ext cx="64008" cy="1115568"/>
          </a:xfrm>
          <a:prstGeom prst="rect">
            <a:avLst/>
          </a:prstGeom>
          <a:solidFill>
            <a:srgbClr val="D96820"/>
          </a:solidFill>
          <a:ln w="12700">
            <a:solidFill>
              <a:srgbClr val="D968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31136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вывод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" y="2404872"/>
            <a:ext cx="3319272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Солнечная радиация (ERA5) — </a:t>
            </a:r>
            <a:r>
              <a:rPr lang="en-US" sz="1050" dirty="0" err="1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</a:t>
            </a: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 err="1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</a:t>
            </a: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меньше радиации → тем больше облачность → тем сильнее шум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2608" y="3438144"/>
            <a:ext cx="4187952" cy="1115568"/>
          </a:xfrm>
          <a:prstGeom prst="rect">
            <a:avLst/>
          </a:prstGeom>
          <a:solidFill>
            <a:srgbClr val="F0FAFA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2608" y="3438144"/>
            <a:ext cx="64008" cy="1115568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9584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применение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3913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 err="1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построенная на </a:t>
            </a: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ERA5-признак</a:t>
            </a:r>
            <a:r>
              <a:rPr lang="ru-RU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ах</a:t>
            </a: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снижает RMSE </a:t>
            </a:r>
            <a:r>
              <a:rPr lang="en-US" sz="1050" dirty="0" err="1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в среднем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заранее оценить качество снимка по метеопрогнозу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224528" cy="3639312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14400"/>
            <a:ext cx="4224528" cy="274320"/>
          </a:xfrm>
          <a:prstGeom prst="rect">
            <a:avLst/>
          </a:prstGeom>
          <a:solidFill>
            <a:srgbClr val="065555"/>
          </a:solidFill>
          <a:ln w="12700">
            <a:solidFill>
              <a:srgbClr val="06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914400"/>
            <a:ext cx="4224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КОРРЕЛЯЦИЯ: ERA5-переменные × шум NDVI </a:t>
            </a:r>
            <a:endParaRPr lang="en-US" sz="8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232611"/>
            <a:ext cx="4133088" cy="32205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0372"/>
            <a:ext cx="9144000" cy="41148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5546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 Университет при Правительстве РФ  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58200" y="485546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2608" y="914400"/>
            <a:ext cx="2779776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914400"/>
            <a:ext cx="2779776" cy="347472"/>
          </a:xfrm>
          <a:prstGeom prst="rect">
            <a:avLst/>
          </a:prstGeom>
          <a:solidFill>
            <a:srgbClr val="C94040"/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1440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ПОЖАРНЫЙ МОНИТОРИНГ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2336" y="13350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Раннее обнаружение возгораний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2336" y="171907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Чистая кривая → точная «норма» NDVI для каждого дня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2336" y="2377440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Аномальное падение на 0.3–0.6 за 3–5 дней — сигнал тревоги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336" y="303580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ложных срабатываний за счёт подавления облачных артефактов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" y="3694176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Пост-пожарный мониторинг восстановления растительности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45536" y="914400"/>
            <a:ext cx="2779776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45536" y="914400"/>
            <a:ext cx="2779776" cy="347472"/>
          </a:xfrm>
          <a:prstGeom prst="rect">
            <a:avLst/>
          </a:prstGeom>
          <a:solidFill>
            <a:srgbClr val="D96820"/>
          </a:solidFill>
          <a:ln w="12700">
            <a:solidFill>
              <a:srgbClr val="D968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8688" y="91440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СЕЛЬСКОЕ ХОЗЯЙСТВО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55264" y="13350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Точный мониторинг посевов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55264" y="1719072"/>
            <a:ext cx="27797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96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ru-RU" sz="1000" b="1" dirty="0">
                <a:solidFill>
                  <a:srgbClr val="D96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0F2020"/>
                </a:solidFill>
                <a:latin typeface="Calibri" pitchFamily="34" charset="0"/>
                <a:cs typeface="Calibri" pitchFamily="34" charset="-120"/>
              </a:rPr>
              <a:t>При должной настройке возможно о</a:t>
            </a:r>
            <a:r>
              <a:rPr lang="en-US" sz="1000" dirty="0" err="1">
                <a:solidFill>
                  <a:srgbClr val="0F2020"/>
                </a:solidFill>
                <a:latin typeface="Calibri" pitchFamily="34" charset="0"/>
                <a:cs typeface="Calibri" pitchFamily="34" charset="-120"/>
              </a:rPr>
              <a:t>пределение</a:t>
            </a:r>
            <a:r>
              <a:rPr lang="en-US" sz="1000" dirty="0">
                <a:solidFill>
                  <a:srgbClr val="0F2020"/>
                </a:solidFill>
                <a:latin typeface="Calibri" pitchFamily="34" charset="0"/>
                <a:cs typeface="Calibri" pitchFamily="34" charset="-120"/>
              </a:rPr>
              <a:t> дат начала/конца вегетационного сезона (±2 </a:t>
            </a:r>
            <a:r>
              <a:rPr lang="en-US" sz="1000" dirty="0" err="1">
                <a:solidFill>
                  <a:srgbClr val="0F2020"/>
                </a:solidFill>
                <a:latin typeface="Calibri" pitchFamily="34" charset="0"/>
                <a:cs typeface="Calibri" pitchFamily="34" charset="-120"/>
              </a:rPr>
              <a:t>дня</a:t>
            </a:r>
            <a:r>
              <a:rPr lang="en-US" sz="1000" dirty="0">
                <a:solidFill>
                  <a:srgbClr val="0F2020"/>
                </a:solidFill>
                <a:latin typeface="Calibri" pitchFamily="34" charset="0"/>
                <a:cs typeface="Calibri" pitchFamily="34" charset="-120"/>
              </a:rPr>
              <a:t>)</a:t>
            </a:r>
          </a:p>
        </p:txBody>
      </p:sp>
      <p:sp>
        <p:nvSpPr>
          <p:cNvPr id="23" name="Text 21"/>
          <p:cNvSpPr/>
          <p:nvPr/>
        </p:nvSpPr>
        <p:spPr>
          <a:xfrm>
            <a:off x="3255264" y="2377440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96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индекса листовой </a:t>
            </a:r>
            <a:r>
              <a:rPr lang="en-US" sz="1000" dirty="0" err="1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поверхности</a:t>
            </a:r>
            <a:r>
              <a:rPr lang="en-US" sz="100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LAI</a:t>
            </a:r>
            <a:r>
              <a:rPr lang="ru-RU" sz="100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0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Area Index</a:t>
            </a:r>
            <a:r>
              <a:rPr lang="ru-RU" sz="100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55264" y="303580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96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урожайности по кривой накопления биомассы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55264" y="3694176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96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 засух и стресса растений по отклонению от нормы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98464" y="914400"/>
            <a:ext cx="2779776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98464" y="914400"/>
            <a:ext cx="2779776" cy="347472"/>
          </a:xfrm>
          <a:prstGeom prst="rect">
            <a:avLst/>
          </a:prstGeom>
          <a:solidFill>
            <a:srgbClr val="0D7A7A"/>
          </a:solidFill>
          <a:ln w="12700">
            <a:solidFill>
              <a:srgbClr val="0D7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1616" y="91440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ЭКОЛОГИЯ И КЛИМАТ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08192" y="13350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Долгосрочный мониторинг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08192" y="171907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Фенологические карты — смещение сезонов по годам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08192" y="2377440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деградации лесов и опустынивания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08192" y="303580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вечной мерзлоты через динамику NDVI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08192" y="3694176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Углеродный баланс экосистем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0372"/>
            <a:ext cx="9144000" cy="41148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до и после </a:t>
            </a: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обработки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ru-RU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территориям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5546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 Университет при Правительстве РФ 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58200" y="485546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36346" y="914400"/>
            <a:ext cx="7521854" cy="2238085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6346" y="914400"/>
            <a:ext cx="7521854" cy="274320"/>
          </a:xfrm>
          <a:prstGeom prst="rect">
            <a:avLst/>
          </a:prstGeom>
          <a:solidFill>
            <a:srgbClr val="065555"/>
          </a:solidFill>
          <a:ln w="12700">
            <a:solidFill>
              <a:srgbClr val="065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914400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до (светлый) и после ERA5-сглаживания (тёмный) — Модель D, cross-val R²=0.335</a:t>
            </a:r>
            <a:endParaRPr lang="en-US" sz="8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 rotWithShape="1">
          <a:blip r:embed="rId3"/>
          <a:srcRect t="9623"/>
          <a:stretch/>
        </p:blipFill>
        <p:spPr>
          <a:xfrm>
            <a:off x="1090685" y="1348512"/>
            <a:ext cx="7200373" cy="168876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92608" y="3280501"/>
            <a:ext cx="1933956" cy="1492667"/>
          </a:xfrm>
          <a:prstGeom prst="rect">
            <a:avLst/>
          </a:prstGeom>
          <a:solidFill>
            <a:srgbClr val="065555"/>
          </a:solidFill>
          <a:ln w="12700">
            <a:solidFill>
              <a:srgbClr val="06555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92608" y="3353653"/>
            <a:ext cx="1933956" cy="7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47472" y="4026835"/>
            <a:ext cx="18242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снижение RMSE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47472" y="4400001"/>
            <a:ext cx="18242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 территориям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332634" y="3280500"/>
            <a:ext cx="1933956" cy="1492667"/>
          </a:xfrm>
          <a:prstGeom prst="rect">
            <a:avLst/>
          </a:prstGeom>
          <a:solidFill>
            <a:srgbClr val="D96820"/>
          </a:solidFill>
          <a:ln w="12700">
            <a:solidFill>
              <a:srgbClr val="D9682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332634" y="3360602"/>
            <a:ext cx="1933956" cy="7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ru-RU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9,3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387498" y="4033784"/>
            <a:ext cx="18242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максимум по локации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387498" y="4406950"/>
            <a:ext cx="18242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307: лучший результат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381773" y="3280499"/>
            <a:ext cx="1933956" cy="1492667"/>
          </a:xfrm>
          <a:prstGeom prst="rect">
            <a:avLst/>
          </a:prstGeom>
          <a:solidFill>
            <a:srgbClr val="0D7A7A"/>
          </a:solidFill>
          <a:ln w="12700">
            <a:solidFill>
              <a:srgbClr val="0D7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388142" y="3349720"/>
            <a:ext cx="1933956" cy="7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</a:t>
            </a:r>
            <a:r>
              <a:rPr lang="ru-RU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443006" y="4022902"/>
            <a:ext cx="18242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 объясняет ~60% дисперсии шума</a:t>
            </a:r>
          </a:p>
        </p:txBody>
      </p:sp>
      <p:sp>
        <p:nvSpPr>
          <p:cNvPr id="23" name="Text 20"/>
          <p:cNvSpPr/>
          <p:nvPr/>
        </p:nvSpPr>
        <p:spPr>
          <a:xfrm>
            <a:off x="4388142" y="4406950"/>
            <a:ext cx="19339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Остаток (~40%): облачность, BRDF,</a:t>
            </a:r>
          </a:p>
          <a:p>
            <a:pPr marL="0" indent="0" algn="ctr">
              <a:buNone/>
            </a:pPr>
            <a:r>
              <a:rPr lang="ru-RU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ru-RU" sz="85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субпиксельная</a:t>
            </a:r>
            <a:r>
              <a:rPr lang="ru-RU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неоднородность</a:t>
            </a:r>
          </a:p>
        </p:txBody>
      </p:sp>
      <p:sp>
        <p:nvSpPr>
          <p:cNvPr id="24" name="Shape 21"/>
          <p:cNvSpPr/>
          <p:nvPr/>
        </p:nvSpPr>
        <p:spPr>
          <a:xfrm>
            <a:off x="6479966" y="3406267"/>
            <a:ext cx="2394814" cy="1117389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graphicFrame>
        <p:nvGraphicFramePr>
          <p:cNvPr id="28" name="Таблица 27">
            <a:extLst>
              <a:ext uri="{FF2B5EF4-FFF2-40B4-BE49-F238E27FC236}">
                <a16:creationId xmlns:a16="http://schemas.microsoft.com/office/drawing/2014/main" id="{CD15AF8C-9D7E-4638-BAFD-A4ABB32C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826013"/>
              </p:ext>
            </p:extLst>
          </p:nvPr>
        </p:nvGraphicFramePr>
        <p:xfrm>
          <a:off x="6515101" y="3473928"/>
          <a:ext cx="2336291" cy="264160"/>
        </p:xfrm>
        <a:graphic>
          <a:graphicData uri="http://schemas.openxmlformats.org/drawingml/2006/table">
            <a:tbl>
              <a:tblPr/>
              <a:tblGrid>
                <a:gridCol w="562490">
                  <a:extLst>
                    <a:ext uri="{9D8B030D-6E8A-4147-A177-3AD203B41FA5}">
                      <a16:colId xmlns:a16="http://schemas.microsoft.com/office/drawing/2014/main" val="588197633"/>
                    </a:ext>
                  </a:extLst>
                </a:gridCol>
                <a:gridCol w="562490">
                  <a:extLst>
                    <a:ext uri="{9D8B030D-6E8A-4147-A177-3AD203B41FA5}">
                      <a16:colId xmlns:a16="http://schemas.microsoft.com/office/drawing/2014/main" val="28184280"/>
                    </a:ext>
                  </a:extLst>
                </a:gridCol>
                <a:gridCol w="648821">
                  <a:extLst>
                    <a:ext uri="{9D8B030D-6E8A-4147-A177-3AD203B41FA5}">
                      <a16:colId xmlns:a16="http://schemas.microsoft.com/office/drawing/2014/main" val="1361882465"/>
                    </a:ext>
                  </a:extLst>
                </a:gridCol>
                <a:gridCol w="562490">
                  <a:extLst>
                    <a:ext uri="{9D8B030D-6E8A-4147-A177-3AD203B41FA5}">
                      <a16:colId xmlns:a16="http://schemas.microsoft.com/office/drawing/2014/main" val="1461256869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dirty="0">
                          <a:effectLst/>
                          <a:latin typeface="+mn-lt"/>
                        </a:rPr>
                        <a:t>ID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dirty="0">
                          <a:effectLst/>
                          <a:latin typeface="+mn-lt"/>
                        </a:rPr>
                        <a:t>RMSE_</a:t>
                      </a:r>
                      <a:endParaRPr lang="ru-RU" sz="700" dirty="0">
                        <a:effectLst/>
                        <a:latin typeface="+mn-lt"/>
                      </a:endParaRPr>
                    </a:p>
                    <a:p>
                      <a:pPr algn="ctr" fontAlgn="ctr"/>
                      <a:r>
                        <a:rPr lang="en-US" sz="700" dirty="0">
                          <a:effectLst/>
                          <a:latin typeface="+mn-lt"/>
                        </a:rPr>
                        <a:t>raw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dirty="0">
                          <a:effectLst/>
                          <a:latin typeface="+mn-lt"/>
                        </a:rPr>
                        <a:t>RMSE_</a:t>
                      </a:r>
                      <a:endParaRPr lang="ru-RU" sz="700" dirty="0">
                        <a:effectLst/>
                        <a:latin typeface="+mn-lt"/>
                      </a:endParaRPr>
                    </a:p>
                    <a:p>
                      <a:pPr algn="ctr" fontAlgn="ctr"/>
                      <a:r>
                        <a:rPr lang="en-US" sz="700" dirty="0">
                          <a:effectLst/>
                          <a:latin typeface="+mn-lt"/>
                        </a:rPr>
                        <a:t>denoised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dirty="0">
                          <a:effectLst/>
                          <a:latin typeface="+mn-lt"/>
                        </a:rPr>
                        <a:t>Улучшение в 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036271"/>
                  </a:ext>
                </a:extLst>
              </a:tr>
            </a:tbl>
          </a:graphicData>
        </a:graphic>
      </p:graphicFrame>
      <p:graphicFrame>
        <p:nvGraphicFramePr>
          <p:cNvPr id="29" name="Таблица 28">
            <a:extLst>
              <a:ext uri="{FF2B5EF4-FFF2-40B4-BE49-F238E27FC236}">
                <a16:creationId xmlns:a16="http://schemas.microsoft.com/office/drawing/2014/main" id="{D251AA8D-F9C4-4A6D-BAA6-909FD3B66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296168"/>
              </p:ext>
            </p:extLst>
          </p:nvPr>
        </p:nvGraphicFramePr>
        <p:xfrm>
          <a:off x="6512164" y="3931762"/>
          <a:ext cx="2336292" cy="264160"/>
        </p:xfrm>
        <a:graphic>
          <a:graphicData uri="http://schemas.openxmlformats.org/drawingml/2006/table">
            <a:tbl>
              <a:tblPr/>
              <a:tblGrid>
                <a:gridCol w="584073">
                  <a:extLst>
                    <a:ext uri="{9D8B030D-6E8A-4147-A177-3AD203B41FA5}">
                      <a16:colId xmlns:a16="http://schemas.microsoft.com/office/drawing/2014/main" val="2198668816"/>
                    </a:ext>
                  </a:extLst>
                </a:gridCol>
                <a:gridCol w="584073">
                  <a:extLst>
                    <a:ext uri="{9D8B030D-6E8A-4147-A177-3AD203B41FA5}">
                      <a16:colId xmlns:a16="http://schemas.microsoft.com/office/drawing/2014/main" val="1959112077"/>
                    </a:ext>
                  </a:extLst>
                </a:gridCol>
                <a:gridCol w="584073">
                  <a:extLst>
                    <a:ext uri="{9D8B030D-6E8A-4147-A177-3AD203B41FA5}">
                      <a16:colId xmlns:a16="http://schemas.microsoft.com/office/drawing/2014/main" val="3900024482"/>
                    </a:ext>
                  </a:extLst>
                </a:gridCol>
                <a:gridCol w="584073">
                  <a:extLst>
                    <a:ext uri="{9D8B030D-6E8A-4147-A177-3AD203B41FA5}">
                      <a16:colId xmlns:a16="http://schemas.microsoft.com/office/drawing/2014/main" val="1722544396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r>
                        <a:rPr lang="ru-RU" sz="700" b="1" dirty="0">
                          <a:effectLst/>
                        </a:rPr>
                        <a:t>185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>
                          <a:effectLst/>
                        </a:rPr>
                        <a:t>0.09896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>
                          <a:effectLst/>
                        </a:rPr>
                        <a:t>0.06148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>
                          <a:solidFill>
                            <a:srgbClr val="F1F1F1"/>
                          </a:solidFill>
                          <a:effectLst/>
                        </a:rPr>
                        <a:t>+37.9%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7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725272"/>
                  </a:ext>
                </a:extLst>
              </a:tr>
            </a:tbl>
          </a:graphicData>
        </a:graphic>
      </p:graphicFrame>
      <p:graphicFrame>
        <p:nvGraphicFramePr>
          <p:cNvPr id="30" name="Таблица 29">
            <a:extLst>
              <a:ext uri="{FF2B5EF4-FFF2-40B4-BE49-F238E27FC236}">
                <a16:creationId xmlns:a16="http://schemas.microsoft.com/office/drawing/2014/main" id="{53A0C6F8-3F47-47A8-A518-B4B77F390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023648"/>
              </p:ext>
            </p:extLst>
          </p:nvPr>
        </p:nvGraphicFramePr>
        <p:xfrm>
          <a:off x="6509224" y="4195922"/>
          <a:ext cx="2336296" cy="271049"/>
        </p:xfrm>
        <a:graphic>
          <a:graphicData uri="http://schemas.openxmlformats.org/drawingml/2006/table">
            <a:tbl>
              <a:tblPr/>
              <a:tblGrid>
                <a:gridCol w="584074">
                  <a:extLst>
                    <a:ext uri="{9D8B030D-6E8A-4147-A177-3AD203B41FA5}">
                      <a16:colId xmlns:a16="http://schemas.microsoft.com/office/drawing/2014/main" val="3776352585"/>
                    </a:ext>
                  </a:extLst>
                </a:gridCol>
                <a:gridCol w="584074">
                  <a:extLst>
                    <a:ext uri="{9D8B030D-6E8A-4147-A177-3AD203B41FA5}">
                      <a16:colId xmlns:a16="http://schemas.microsoft.com/office/drawing/2014/main" val="2062502072"/>
                    </a:ext>
                  </a:extLst>
                </a:gridCol>
                <a:gridCol w="584074">
                  <a:extLst>
                    <a:ext uri="{9D8B030D-6E8A-4147-A177-3AD203B41FA5}">
                      <a16:colId xmlns:a16="http://schemas.microsoft.com/office/drawing/2014/main" val="105768158"/>
                    </a:ext>
                  </a:extLst>
                </a:gridCol>
                <a:gridCol w="584074">
                  <a:extLst>
                    <a:ext uri="{9D8B030D-6E8A-4147-A177-3AD203B41FA5}">
                      <a16:colId xmlns:a16="http://schemas.microsoft.com/office/drawing/2014/main" val="3589090612"/>
                    </a:ext>
                  </a:extLst>
                </a:gridCol>
              </a:tblGrid>
              <a:tr h="27104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700" b="1" i="0" u="none" strike="noStrike" cap="none" dirty="0">
                          <a:solidFill>
                            <a:srgbClr val="1A1A2E"/>
                          </a:solidFill>
                          <a:latin typeface="+mn-lt"/>
                          <a:cs typeface="Arial"/>
                          <a:sym typeface="Arial"/>
                        </a:rPr>
                        <a:t>307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700" b="0" i="0" u="none" strike="noStrike" cap="none" dirty="0">
                          <a:solidFill>
                            <a:srgbClr val="1A1A2E"/>
                          </a:solidFill>
                          <a:latin typeface="+mn-lt"/>
                          <a:cs typeface="Arial"/>
                          <a:sym typeface="Arial"/>
                        </a:rPr>
                        <a:t>0.07767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700" b="0" i="0" u="none" strike="noStrike" cap="none" dirty="0">
                          <a:solidFill>
                            <a:srgbClr val="1A1A2E"/>
                          </a:solidFill>
                          <a:latin typeface="+mn-lt"/>
                          <a:cs typeface="Arial"/>
                          <a:sym typeface="Arial"/>
                        </a:rPr>
                        <a:t>0.04712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>
                          <a:solidFill>
                            <a:srgbClr val="F1F1F1"/>
                          </a:solidFill>
                          <a:effectLst/>
                          <a:latin typeface="+mn-lt"/>
                        </a:rPr>
                        <a:t>+39.3%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0163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39082" y="690372"/>
            <a:ext cx="4696358" cy="2462479"/>
          </a:xfrm>
          <a:prstGeom prst="rect">
            <a:avLst/>
          </a:prstGeom>
          <a:solidFill>
            <a:srgbClr val="FFFFFF"/>
          </a:solidFill>
          <a:ln w="10160">
            <a:solidFill>
              <a:srgbClr val="C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690372"/>
            <a:ext cx="9144000" cy="41148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и практический вклад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42E2E"/>
          </a:solidFill>
          <a:ln w="12700">
            <a:solidFill>
              <a:srgbClr val="04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5546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 Университет при Правительстве РФ 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58200" y="485546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2608" y="914400"/>
            <a:ext cx="4224528" cy="292608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14400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РАЗРАБОТАНО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24358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автоматизированный Python-конвейер очистки NDVI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159105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Трёхступенчатый алгоритм сглаживания (UE + PCHIP + SG)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19385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Физическая ERA5-модель </a:t>
            </a:r>
            <a:r>
              <a:rPr lang="en-US" sz="1050" dirty="0" err="1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шума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2286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15 территорий за 6 </a:t>
            </a:r>
            <a:r>
              <a:rPr lang="en-US" sz="1050" dirty="0" err="1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" y="2761488"/>
            <a:ext cx="4224528" cy="292608"/>
          </a:xfrm>
          <a:prstGeom prst="rect">
            <a:avLst/>
          </a:prstGeom>
          <a:solidFill>
            <a:srgbClr val="D96820"/>
          </a:solidFill>
          <a:ln w="12700">
            <a:solidFill>
              <a:srgbClr val="D968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761488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ДОКАЗАНО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30906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6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RMSE </a:t>
            </a:r>
            <a:r>
              <a:rPr lang="en-US" sz="1050" dirty="0" err="1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</a:t>
            </a:r>
            <a:r>
              <a:rPr lang="ru-RU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в среднем, </a:t>
            </a:r>
            <a:r>
              <a:rPr lang="en-US" sz="1050" dirty="0" err="1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</a:t>
            </a:r>
            <a:r>
              <a:rPr lang="ru-RU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</a:t>
            </a:r>
            <a:r>
              <a:rPr lang="en-US" sz="1050" dirty="0" err="1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ru-RU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одной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локации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" y="343814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6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 </a:t>
            </a:r>
            <a:r>
              <a:rPr lang="en-US" sz="1050" dirty="0" err="1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объясняет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</a:t>
            </a:r>
            <a:r>
              <a:rPr lang="ru-RU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</a:t>
            </a:r>
            <a:r>
              <a:rPr lang="en-US" sz="1050" dirty="0" err="1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дисперсии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шума</a:t>
            </a:r>
            <a:r>
              <a:rPr lang="ru-RU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где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солнечная радиация главный фактор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378561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6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50" dirty="0">
                <a:solidFill>
                  <a:srgbClr val="0F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превосходит стандартные маски облачности (SCL/QA)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" y="4261104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663440" y="2535083"/>
            <a:ext cx="4224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Итоговое сравнение RMSE — все 15 территорий</a:t>
            </a:r>
            <a:endParaRPr lang="en-US" sz="850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183C904E-99EC-44D8-B1FC-C035D7B7E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342" y="807521"/>
            <a:ext cx="4538657" cy="2269329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A05DA70F-BCCB-4CB8-A648-15811487F1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9050" r="48027" b="36521"/>
          <a:stretch/>
        </p:blipFill>
        <p:spPr>
          <a:xfrm>
            <a:off x="4539082" y="3159610"/>
            <a:ext cx="2231856" cy="1662723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B692B8B0-96A5-404F-A61E-7B1F518D95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3185" r="48027" b="12386"/>
          <a:stretch/>
        </p:blipFill>
        <p:spPr>
          <a:xfrm>
            <a:off x="6841540" y="3141689"/>
            <a:ext cx="2231857" cy="16627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8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2E2E">
              <a:alpha val="72000"/>
            </a:srgbClr>
          </a:solidFill>
          <a:ln w="12700">
            <a:solidFill>
              <a:srgbClr val="042E2E">
                <a:alpha val="7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9090"/>
          </a:solidFill>
          <a:ln w="12700">
            <a:solidFill>
              <a:srgbClr val="0A909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96012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1645920" y="2377440"/>
            <a:ext cx="5852160" cy="0"/>
          </a:xfrm>
          <a:prstGeom prst="line">
            <a:avLst/>
          </a:prstGeom>
          <a:noFill/>
          <a:ln w="15240">
            <a:solidFill>
              <a:srgbClr val="9DD4D4">
                <a:alpha val="6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0" y="2560321"/>
            <a:ext cx="5695784" cy="2329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 err="1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Бабенко</a:t>
            </a:r>
            <a:r>
              <a:rPr lang="en-US" sz="130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</a:t>
            </a:r>
            <a:r>
              <a:rPr lang="ru-RU" sz="1300" b="1" dirty="0" err="1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ладислав</a:t>
            </a:r>
            <a:r>
              <a:rPr lang="ru-RU" sz="130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Александрович</a:t>
            </a:r>
          </a:p>
          <a:p>
            <a:pPr algn="ctr">
              <a:lnSpc>
                <a:spcPct val="150000"/>
              </a:lnSpc>
            </a:pPr>
            <a:r>
              <a:rPr lang="en-US" sz="130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Капская А</a:t>
            </a:r>
            <a:r>
              <a:rPr lang="ru-RU" sz="1300" b="1" dirty="0" err="1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лександра</a:t>
            </a:r>
            <a:r>
              <a:rPr lang="ru-RU" sz="130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r>
              <a:rPr lang="ru-RU" sz="1300" b="1" dirty="0" err="1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ихайловна</a:t>
            </a:r>
            <a:endParaRPr lang="ru-RU" sz="1300" b="1" dirty="0">
              <a:solidFill>
                <a:srgbClr val="9DD4D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 err="1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Фонин</a:t>
            </a:r>
            <a:r>
              <a:rPr lang="en-US" sz="130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</a:t>
            </a:r>
            <a:r>
              <a:rPr lang="ru-RU" sz="1300" b="1" dirty="0" err="1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ихаил</a:t>
            </a:r>
            <a:r>
              <a:rPr lang="ru-RU" sz="130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ru-RU" sz="1300" b="1" dirty="0" err="1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ндреевич</a:t>
            </a:r>
            <a:endParaRPr lang="ru-RU" sz="1300" b="1" dirty="0">
              <a:solidFill>
                <a:srgbClr val="9DD4D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ru-RU" sz="1300" b="1" dirty="0">
              <a:solidFill>
                <a:srgbClr val="9DD4D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</a:t>
            </a:r>
            <a:r>
              <a:rPr lang="en-US" sz="1300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рук.: Чернышенко В.С., к.ф.-м.н., доц.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 Университет при Правительстве РФ  </a:t>
            </a:r>
            <a:endParaRPr lang="ru-RU" sz="1300" dirty="0">
              <a:solidFill>
                <a:srgbClr val="9DD4D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r>
              <a:rPr lang="ru-RU" sz="1300" dirty="0">
                <a:solidFill>
                  <a:srgbClr val="9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976</Words>
  <Application>Microsoft Office PowerPoint</Application>
  <PresentationFormat>Экран (16:9)</PresentationFormat>
  <Paragraphs>195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Космический взгляд сквозь шум — практическая реализация</dc:title>
  <dc:subject>PptxGenJS Presentation</dc:subject>
  <dc:creator>PptxGenJS</dc:creator>
  <cp:lastModifiedBy>Капская Аша</cp:lastModifiedBy>
  <cp:revision>12</cp:revision>
  <dcterms:created xsi:type="dcterms:W3CDTF">2026-04-21T10:38:38Z</dcterms:created>
  <dcterms:modified xsi:type="dcterms:W3CDTF">2026-04-28T18:20:37Z</dcterms:modified>
</cp:coreProperties>
</file>